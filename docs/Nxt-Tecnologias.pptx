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0" y="-1097280"/>
            <a:ext cx="5029200" cy="5029200"/>
          </a:xfrm>
          <a:prstGeom prst="roundRect">
            <a:avLst/>
          </a:prstGeom>
          <a:solidFill>
            <a:srgbClr val="2E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75520" y="3840480"/>
            <a:ext cx="4114800" cy="4114800"/>
          </a:xfrm>
          <a:prstGeom prst="roundRect">
            <a:avLst/>
          </a:prstGeom>
          <a:solidFill>
            <a:srgbClr val="393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64008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100584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Segoe UI"/>
              </a:rPr>
              <a:t>Nxt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24612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D8D6F5"/>
                </a:solidFill>
                <a:latin typeface="Segoe UI"/>
              </a:rPr>
              <a:t>A tecnologia por trás do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977639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E9BCF"/>
                </a:solidFill>
                <a:latin typeface="Segoe UI"/>
              </a:rPr>
              <a:t>Resumo executivo — explicado para qualquer pessoa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6126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78B8"/>
                </a:solidFill>
                <a:latin typeface="Segoe UI"/>
              </a:rPr>
              <a:t>Moderno · Maduro · Usado por gigantes do mercado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7C4F0"/>
                </a:solidFill>
                <a:latin typeface="Segoe UI"/>
              </a:rPr>
              <a:t>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A decisão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Nxt · Tecnologia do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37376"/>
            <a:ext cx="10058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11183112" cy="1828800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3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09728" cy="1828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106070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E296B"/>
                </a:solidFill>
                <a:latin typeface="Segoe UI"/>
              </a:rPr>
              <a:t>Uma única língua, do início ao fim.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Segoe UI"/>
              </a:rPr>
              <a:t>Usamos </a:t>
            </a:r>
            <a:r>
              <a:rPr sz="1500" b="1">
                <a:solidFill>
                  <a:srgbClr val="20202B"/>
                </a:solidFill>
                <a:latin typeface="Segoe UI"/>
              </a:rPr>
              <a:t>TypeScript</a:t>
            </a:r>
            <a:r>
              <a:rPr sz="1500" b="0">
                <a:solidFill>
                  <a:srgbClr val="6B7280"/>
                </a:solidFill>
                <a:latin typeface="Segoe UI"/>
              </a:rPr>
              <a:t> nas telas e no servidor — como uma equipe em que </a:t>
            </a:r>
            <a:r>
              <a:rPr sz="1500" b="1">
                <a:solidFill>
                  <a:srgbClr val="20202B"/>
                </a:solidFill>
                <a:latin typeface="Segoe UI"/>
              </a:rPr>
              <a:t>todos falam o mesmo idioma</a:t>
            </a:r>
            <a:r>
              <a:rPr sz="1500" b="0">
                <a:solidFill>
                  <a:srgbClr val="6B7280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03320"/>
            <a:ext cx="359359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703320"/>
            <a:ext cx="82296" cy="22860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867911"/>
            <a:ext cx="313639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202B"/>
                </a:solidFill>
                <a:latin typeface="Segoe UI"/>
              </a:rPr>
              <a:t>⚡  Mais rápido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270248"/>
            <a:ext cx="3136392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Funcionalidades novas saem em menos tempo — vantagem competitiva real.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703320"/>
            <a:ext cx="359359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3703320"/>
            <a:ext cx="82296" cy="22860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867911"/>
            <a:ext cx="313639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202B"/>
                </a:solidFill>
                <a:latin typeface="Segoe UI"/>
              </a:rPr>
              <a:t>🎯  Menos erros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270248"/>
            <a:ext cx="3136392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Menos 'tradução' entre as partes do sistema = menos bugs de comunicação.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703320"/>
            <a:ext cx="359359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92440" y="3703320"/>
            <a:ext cx="82296" cy="2286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1" y="3867911"/>
            <a:ext cx="313639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202B"/>
                </a:solidFill>
                <a:latin typeface="Segoe UI"/>
              </a:rPr>
              <a:t>👥  Time enxuto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4270248"/>
            <a:ext cx="3136392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Os mesmos profissionais atuam de ponta a ponta, sem times separados.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7C4F0"/>
                </a:solidFill>
                <a:latin typeface="Segoe UI"/>
              </a:rPr>
              <a:t>ANALOGIA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Como pensar 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Nxt · Tecnologia do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37376"/>
            <a:ext cx="10058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Pense num prédio inteligente — cada parte tem sua função: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532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82296" cy="19659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176272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202B"/>
                </a:solidFill>
                <a:latin typeface="Segoe UI"/>
              </a:rPr>
              <a:t>🖥️  Fachada e ambientes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578608"/>
            <a:ext cx="5074920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As telas, botões, formulários e tabelas — tudo que o usuário vê e usa.
(o frontend)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011680"/>
            <a:ext cx="5532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2011680"/>
            <a:ext cx="82296" cy="19659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176272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202B"/>
                </a:solidFill>
                <a:latin typeface="Segoe UI"/>
              </a:rPr>
              <a:t>⚙️  Máquinas e tubulação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578608"/>
            <a:ext cx="5074920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As regras, cálculos e validações que ninguém vê, mas fazem tudo funcionar.
(o backend)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60520"/>
            <a:ext cx="5532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4160520"/>
            <a:ext cx="82296" cy="1965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325112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202B"/>
                </a:solidFill>
                <a:latin typeface="Segoe UI"/>
              </a:rPr>
              <a:t>🗄️  Arquivo central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727448"/>
            <a:ext cx="5074920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Onde tudo fica guardado com segurança: contratos, parceiros, unidades.
(o banco de dados)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160520"/>
            <a:ext cx="5532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99632" y="4160520"/>
            <a:ext cx="82296" cy="1965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4325112"/>
            <a:ext cx="5074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202B"/>
                </a:solidFill>
                <a:latin typeface="Segoe UI"/>
              </a:rPr>
              <a:t>🔐  Portaria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727448"/>
            <a:ext cx="5074920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Controla quem pode entrar e o que cada um pode fazer.
(a autenticação)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7C4F0"/>
                </a:solidFill>
                <a:latin typeface="Segoe UI"/>
              </a:rPr>
              <a:t>AS PEÇAS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A stack, em resumo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Nxt · Tecnologia do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37376"/>
            <a:ext cx="10058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11183112" cy="48280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3200400"/>
                <a:gridCol w="5056632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Camada</a:t>
                      </a:r>
                    </a:p>
                  </a:txBody>
                  <a:tcPr marL="109728" marR="73152" marT="36576" marB="36576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Tecnologia</a:t>
                      </a:r>
                    </a:p>
                  </a:txBody>
                  <a:tcPr marL="109728" marR="73152" marT="36576" marB="36576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Para quê</a:t>
                      </a:r>
                    </a:p>
                  </a:txBody>
                  <a:tcPr marL="109728" marR="73152" marT="36576" marB="36576" anchor="ctr">
                    <a:solidFill>
                      <a:srgbClr val="4F46E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0202B"/>
                          </a:solidFill>
                          <a:latin typeface="Segoe UI"/>
                        </a:rPr>
                        <a:t>Telas (o que se vê)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React + Next.js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Interface moderna, rápida e fluida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0202B"/>
                          </a:solidFill>
                          <a:latin typeface="Segoe UI"/>
                        </a:rPr>
                        <a:t>Servidor (o motor)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Node.js + NestJS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Regras de negócio; atende muitos usuários ao mesmo tempo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0202B"/>
                          </a:solidFill>
                          <a:latin typeface="Segoe UI"/>
                        </a:rPr>
                        <a:t>Banco de dados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SQL Server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Guarda os dados com robustez corporativa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0202B"/>
                          </a:solidFill>
                          <a:latin typeface="Segoe UI"/>
                        </a:rPr>
                        <a:t>Ponte com o banco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Prisma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Acesso seguro e produtivo aos dados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0202B"/>
                          </a:solidFill>
                          <a:latin typeface="Segoe UI"/>
                        </a:rPr>
                        <a:t>Visual e formulários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Tailwind · Radix · Zod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Aparência consistente, acessível e com validação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0202B"/>
                          </a:solidFill>
                          <a:latin typeface="Segoe UI"/>
                        </a:rPr>
                        <a:t>Bastidores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Docker · Turborepo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Ambiente previsível e construção rápida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0202B"/>
                          </a:solidFill>
                          <a:latin typeface="Segoe UI"/>
                        </a:rPr>
                        <a:t>Acesso / login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Keycloak (em simplificação)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Segurança de quem entra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7C4F0"/>
                </a:solidFill>
                <a:latin typeface="Segoe UI"/>
              </a:rPr>
              <a:t>PARTE 1 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Tecnologias principais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Nxt · Tecnologia do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37376"/>
            <a:ext cx="10058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1118311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82296" cy="22402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19072"/>
            <a:ext cx="1072591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202B"/>
                </a:solidFill>
                <a:latin typeface="Segoe UI"/>
              </a:rPr>
              <a:t>📘  TypeScript — a língua única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21408"/>
            <a:ext cx="10725912" cy="1600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A linguagem em que o sistema é escrito. Avisa o programador sobre erros ANTES de rodar (como um corretor que pega problemas enquanto você digita).
► Vantagem sobre o Java: segurança parecida, porém com mais agilidade — e sem precisar de duas línguas no projeto.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77639"/>
            <a:ext cx="1118311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977639"/>
            <a:ext cx="82296" cy="20574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4142231"/>
            <a:ext cx="1072591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202B"/>
                </a:solidFill>
                <a:latin typeface="Segoe UI"/>
              </a:rPr>
              <a:t>🖥️  React + Next.js — as telas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544568"/>
            <a:ext cx="10725912" cy="1417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O padrão de mercado para interfaces modernas (de bancos a streamings). Entregam a experiência ágil de 'aplicativo' que o usuário espera hoje.
► Vantagem: muito mais fluido que telas datadas geradas por tecnologias antigas.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7C4F0"/>
                </a:solidFill>
                <a:latin typeface="Segoe UI"/>
              </a:rPr>
              <a:t>PARTE 2 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Tecnologias principais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Nxt · Tecnologia do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37376"/>
            <a:ext cx="10058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1118311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82296" cy="22402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19072"/>
            <a:ext cx="1072591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202B"/>
                </a:solidFill>
                <a:latin typeface="Segoe UI"/>
              </a:rPr>
              <a:t>⚙️  Node.js + NestJS — o motor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21408"/>
            <a:ext cx="10725912" cy="1600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Recebe os pedidos das telas, aplica as regras e conversa com o banco. O NestJS dá estrutura profissional e modular (muito parecido com o Spring, do mundo Java).
► Vantagem sobre o Java/Spring: mais velocidade de desenvolvimento e menos infraestrutura, com qualidade comparável.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77639"/>
            <a:ext cx="1118311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977639"/>
            <a:ext cx="82296" cy="2057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4142231"/>
            <a:ext cx="1072591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202B"/>
                </a:solidFill>
                <a:latin typeface="Segoe UI"/>
              </a:rPr>
              <a:t>🗄️  SQL Server + Prisma — os 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544568"/>
            <a:ext cx="10725912" cy="1417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Banco de dados corporativo da Microsoft, amplamente usado nas empresas — ótimo para clientes que instalam o sistema na própria casa. O Prisma é a ponte segura até ele.
► Vantagem: alinhado ao ambiente das empresas-alvo e com menos erros de banco.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7C4F0"/>
                </a:solidFill>
                <a:latin typeface="Segoe UI"/>
              </a:rPr>
              <a:t>COMPARAÇÃO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E o Java? — a resposta honesta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Nxt · Tecnologia do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37376"/>
            <a:ext cx="10058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11183112" cy="1051560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3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69848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202B"/>
                </a:solidFill>
                <a:latin typeface="Segoe UI"/>
              </a:rPr>
              <a:t>O Java NÃO é pior — é uma escolha de encaixe. </a:t>
            </a:r>
            <a:r>
              <a:rPr sz="1400" b="0">
                <a:solidFill>
                  <a:srgbClr val="6B7280"/>
                </a:solidFill>
                <a:latin typeface="Segoe UI"/>
              </a:rPr>
              <a:t>Nossa tecnologia (Node/TypeScript) roda em escala gigante na Netflix, PayPal e Uber.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697480"/>
          <a:ext cx="11183112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17520"/>
                <a:gridCol w="4206240"/>
                <a:gridCol w="395935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Critério</a:t>
                      </a:r>
                    </a:p>
                  </a:txBody>
                  <a:tcPr marL="109728" marR="73152" marT="36576" marB="36576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Nossa escolha (TS/Node)</a:t>
                      </a:r>
                    </a:p>
                  </a:txBody>
                  <a:tcPr marL="109728" marR="73152" marT="36576" marB="36576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Java</a:t>
                      </a:r>
                    </a:p>
                  </a:txBody>
                  <a:tcPr marL="109728" marR="73152" marT="36576" marB="36576" anchor="ctr">
                    <a:solidFill>
                      <a:srgbClr val="4F46E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0202B"/>
                          </a:solidFill>
                          <a:latin typeface="Segoe UI"/>
                        </a:rPr>
                        <a:t>Velocidade de entrega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Mais rápida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Mais lenta (mais cerimônia)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0202B"/>
                          </a:solidFill>
                          <a:latin typeface="Segoe UI"/>
                        </a:rPr>
                        <a:t>Linguagens no projeto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Uma só (ponta a ponta)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Duas (Java + JavaScript)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0202B"/>
                          </a:solidFill>
                          <a:latin typeface="Segoe UI"/>
                        </a:rPr>
                        <a:t>Times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Ótimo p/ ágeis e enxutos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Brilha em times enormes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0202B"/>
                          </a:solidFill>
                          <a:latin typeface="Segoe UI"/>
                        </a:rPr>
                        <a:t>Maturidade / robustez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Altíssima (referência histórica)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0202B"/>
                          </a:solidFill>
                          <a:latin typeface="Segoe UI"/>
                        </a:rPr>
                        <a:t>Melhor cenário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Produto crescendo · SaaS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6B7280"/>
                          </a:solidFill>
                          <a:latin typeface="Segoe UI"/>
                        </a:rPr>
                        <a:t>Legados enormes · casas Java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7C4F0"/>
                </a:solidFill>
                <a:latin typeface="Segoe UI"/>
              </a:rPr>
              <a:t>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Por que essa escolha vale para o negócio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Nxt · Tecnologia do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37376"/>
            <a:ext cx="10058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359359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82296" cy="32918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76272"/>
            <a:ext cx="313639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202B"/>
                </a:solidFill>
                <a:latin typeface="Segoe UI"/>
              </a:rPr>
              <a:t>⚡  Velocidade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78608"/>
            <a:ext cx="3136392" cy="2651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Novas funcionalidades saem mais rápido. Em um produto que precisa crescer e ganhar mercado, isso é vantagem competitiva direta.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359359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2011680"/>
            <a:ext cx="82296" cy="32918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176272"/>
            <a:ext cx="313639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202B"/>
                </a:solidFill>
                <a:latin typeface="Segoe UI"/>
              </a:rPr>
              <a:t>🛡️  Qualidade e segurança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78608"/>
            <a:ext cx="3136392" cy="2651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Tecnologias maduras, com verificação automática de erros antes de o sistema rodar. Menos falhas, mais confiança.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011680"/>
            <a:ext cx="359359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2011680"/>
            <a:ext cx="82296" cy="32918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2176272"/>
            <a:ext cx="313639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202B"/>
                </a:solidFill>
                <a:latin typeface="Segoe UI"/>
              </a:rPr>
              <a:t>🏢  Flexibilidade de venda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578608"/>
            <a:ext cx="3136392" cy="2651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O MESMO sistema atende nuvem (SaaS) e instalação local (on-premise), sem reescrever nada — abre portas para clientes de todos os portes.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7C4F0"/>
                </a:solidFill>
                <a:latin typeface="Segoe UI"/>
              </a:rPr>
              <a:t>REFERÊNCIA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Lista completa das tecnologias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Nxt · Tecnologia do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37376"/>
            <a:ext cx="10058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5532120" cy="5029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65960"/>
                <a:gridCol w="356616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Tecnologia</a:t>
                      </a:r>
                    </a:p>
                  </a:txBody>
                  <a:tcPr marL="109728" marR="73152" marT="36576" marB="36576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Em uma frase</a:t>
                      </a:r>
                    </a:p>
                  </a:txBody>
                  <a:tcPr marL="109728" marR="73152" marT="36576" marB="36576" anchor="ctr">
                    <a:solidFill>
                      <a:srgbClr val="4F46E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02B"/>
                          </a:solidFill>
                          <a:latin typeface="Segoe UI"/>
                        </a:rPr>
                        <a:t>TypeScript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A língua única, segura e organizada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02B"/>
                          </a:solidFill>
                          <a:latin typeface="Segoe UI"/>
                        </a:rPr>
                        <a:t>React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Constrói as telas (o que se vê)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02B"/>
                          </a:solidFill>
                          <a:latin typeface="Segoe UI"/>
                        </a:rPr>
                        <a:t>Next.js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Organiza e dá performance às telas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02B"/>
                          </a:solidFill>
                          <a:latin typeface="Segoe UI"/>
                        </a:rPr>
                        <a:t>Node.js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O motor do servidor (backend)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02B"/>
                          </a:solidFill>
                          <a:latin typeface="Segoe UI"/>
                        </a:rPr>
                        <a:t>NestJS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Estrutura profissional (como o Spring)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02B"/>
                          </a:solidFill>
                          <a:latin typeface="Segoe UI"/>
                        </a:rPr>
                        <a:t>Prisma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Ponte segura com o banco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02B"/>
                          </a:solidFill>
                          <a:latin typeface="Segoe UI"/>
                        </a:rPr>
                        <a:t>SQL Server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Banco de dados corporativo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02B"/>
                          </a:solidFill>
                          <a:latin typeface="Segoe UI"/>
                        </a:rPr>
                        <a:t>Tailwind CSS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Sistema de estilo visual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02B"/>
                          </a:solidFill>
                          <a:latin typeface="Segoe UI"/>
                        </a:rPr>
                        <a:t>Radix UI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Componentes acessíveis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99632" y="1417320"/>
          <a:ext cx="5532120" cy="5029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48840"/>
                <a:gridCol w="33832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Tecnologia</a:t>
                      </a:r>
                    </a:p>
                  </a:txBody>
                  <a:tcPr marL="109728" marR="73152" marT="36576" marB="36576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Em uma frase</a:t>
                      </a:r>
                    </a:p>
                  </a:txBody>
                  <a:tcPr marL="109728" marR="73152" marT="36576" marB="36576" anchor="ctr">
                    <a:solidFill>
                      <a:srgbClr val="4F46E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02B"/>
                          </a:solidFill>
                          <a:latin typeface="Segoe UI"/>
                        </a:rPr>
                        <a:t>lucide-react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Os ícones do sistema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02B"/>
                          </a:solidFill>
                          <a:latin typeface="Segoe UI"/>
                        </a:rPr>
                        <a:t>React Hook Form + Zod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Formulários e validação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02B"/>
                          </a:solidFill>
                          <a:latin typeface="Segoe UI"/>
                        </a:rPr>
                        <a:t>Recharts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Os gráficos (painel inicial)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02B"/>
                          </a:solidFill>
                          <a:latin typeface="Segoe UI"/>
                        </a:rPr>
                        <a:t>bpmn-js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Desenho de processos (BPMN)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02B"/>
                          </a:solidFill>
                          <a:latin typeface="Segoe UI"/>
                        </a:rPr>
                        <a:t>ExcelJS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Exportação para Excel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02B"/>
                          </a:solidFill>
                          <a:latin typeface="Segoe UI"/>
                        </a:rPr>
                        <a:t>date-fns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Manipulação de datas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02B"/>
                          </a:solidFill>
                          <a:latin typeface="Segoe UI"/>
                        </a:rPr>
                        <a:t>Keycloak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Login e acesso (em revisão)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02B"/>
                          </a:solidFill>
                          <a:latin typeface="Segoe UI"/>
                        </a:rPr>
                        <a:t>Docker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Empacota os serviços</a:t>
                      </a:r>
                    </a:p>
                  </a:txBody>
                  <a:tcPr marL="109728" marR="73152" marT="36576" marB="36576" anchor="ctr">
                    <a:solidFill>
                      <a:srgbClr val="F4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02B"/>
                          </a:solidFill>
                          <a:latin typeface="Segoe UI"/>
                        </a:rPr>
                        <a:t>Turborepo · AWS S3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7280"/>
                          </a:solidFill>
                          <a:latin typeface="Segoe UI"/>
                        </a:rPr>
                        <a:t>Build do projeto · anexos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0" y="4206240"/>
            <a:ext cx="5029200" cy="5029200"/>
          </a:xfrm>
          <a:prstGeom prst="roundRect">
            <a:avLst/>
          </a:prstGeom>
          <a:solidFill>
            <a:srgbClr val="2E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0" y="-1280160"/>
            <a:ext cx="5029200" cy="4572000"/>
          </a:xfrm>
          <a:prstGeom prst="roundRect">
            <a:avLst/>
          </a:prstGeom>
          <a:solidFill>
            <a:srgbClr val="393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64008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1033272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Tecnologia de ponta,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usada por gigantes do mercado.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84048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FCCF0"/>
                </a:solidFill>
                <a:latin typeface="Segoe UI"/>
              </a:rPr>
              <a:t>Escolhida para entregar mais valor em menos tempo — sem abrir mão de robustez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FCCF0"/>
                </a:solidFill>
                <a:latin typeface="Segoe UI"/>
              </a:rPr>
              <a:t>nem de atender clientes de todos os portes.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6126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78B8"/>
                </a:solidFill>
                <a:latin typeface="Segoe UI"/>
              </a:rPr>
              <a:t>Nxt · Tecnologia do Sistema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